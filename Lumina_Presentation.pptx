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F0E54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2560320"/>
            <a:ext cx="5852160" cy="5852160"/>
          </a:xfrm>
          <a:prstGeom prst="ellipse">
            <a:avLst/>
          </a:prstGeom>
          <a:solidFill>
            <a:srgbClr val="9B7B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BFF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7589520" cy="4663440"/>
          </a:xfrm>
          <a:prstGeom prst="rect">
            <a:avLst/>
          </a:prstGeom>
          <a:solidFill>
            <a:srgbClr val="2A2A4A">
              <a:alpha val="72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371600"/>
            <a:ext cx="7132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0E54F"/>
                </a:solidFill>
                <a:latin typeface="Arial"/>
              </a:rPr>
              <a:t>LUMINA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88920"/>
            <a:ext cx="5760720" cy="127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28803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5FF"/>
                </a:solidFill>
                <a:latin typeface="Arial"/>
              </a:rPr>
              <a:t>Real-Time ASL Translation &amp; Gamified Learning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5661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BB"/>
                </a:solidFill>
                <a:latin typeface="Arial"/>
              </a:rPr>
              <a:t>Powered by Google MediaPipe  ·  Random Forest ML  ·  99.86%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51206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BB"/>
                </a:solidFill>
                <a:latin typeface="Arial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200400" y="0"/>
            <a:ext cx="7315200" cy="7315200"/>
          </a:xfrm>
          <a:prstGeom prst="ellipse">
            <a:avLst/>
          </a:prstGeom>
          <a:solidFill>
            <a:srgbClr val="F5C6D0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F0E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F5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A1A2E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70 Million People. One Invisible Barrier.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3566160" cy="466344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F5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3566160" cy="54864"/>
          </a:xfrm>
          <a:prstGeom prst="rect">
            <a:avLst/>
          </a:prstGeom>
          <a:solidFill>
            <a:srgbClr val="F5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6D0"/>
                </a:solidFill>
                <a:latin typeface="Arial"/>
              </a:rPr>
              <a:t>The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21408"/>
            <a:ext cx="3200400" cy="12700"/>
          </a:xfrm>
          <a:prstGeom prst="rect">
            <a:avLst/>
          </a:prstGeom>
          <a:solidFill>
            <a:srgbClr val="F5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~70 million Deaf &amp; hard-of-hearing
people worldwide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500,000+ ASL users in the US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709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Most hearing people — doctors,
teachers, family — cannot
understand a single 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566160" cy="466344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3566160" cy="54864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E54F"/>
                </a:solidFill>
                <a:latin typeface="Arial"/>
              </a:rPr>
              <a:t>Why Tools Fail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2121408"/>
            <a:ext cx="3200400" cy="12700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Dedicated hardware (depth cameras,
sensor gloves) costs thousands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Video apps give ZERO real-time
feedback on whether you sign correctly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09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Interpreters are expensive, scarce
&amp; unavailable spontaneously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1554480"/>
            <a:ext cx="3566160" cy="466344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19" y="1554480"/>
            <a:ext cx="3566160" cy="54864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199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7BFF"/>
                </a:solidFill>
                <a:latin typeface="Arial"/>
              </a:rPr>
              <a:t>The Core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199" y="2121408"/>
            <a:ext cx="3200400" cy="127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199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A persistent communication barrier
limiting Deaf access to education,
healthcare &amp; employment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199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Not because technology doesn't exist 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199" y="4709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But because it has never been made
accessible or affordable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3200400"/>
            <a:ext cx="7315200" cy="7315200"/>
          </a:xfrm>
          <a:prstGeom prst="ellipse">
            <a:avLst/>
          </a:prstGeom>
          <a:solidFill>
            <a:srgbClr val="9B7BFF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0" y="3200400"/>
            <a:ext cx="6400800" cy="6400800"/>
          </a:xfrm>
          <a:prstGeom prst="ellipse">
            <a:avLst/>
          </a:prstGeom>
          <a:solidFill>
            <a:srgbClr val="F0E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A1A2E"/>
                </a:solidFill>
                <a:latin typeface="Arial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Lumina — AI That Understands Sign Language, In Any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B"/>
                </a:solidFill>
                <a:latin typeface="Arial"/>
              </a:rPr>
              <a:t>Free · Browser-based · No download · No special hardware · Just a webcam.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74519"/>
            <a:ext cx="5669280" cy="448056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5669280" cy="64008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E54F"/>
                </a:solidFill>
                <a:latin typeface="Arial"/>
              </a:rPr>
              <a:t>🤖  Module 1 — The Translator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68880"/>
            <a:ext cx="5303520" cy="12700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Converts real ASL hand gestures into text in real time, letter by letter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18688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Achieves 99.86% sign classification accuracy on 10,800 gesture samples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77056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No GPU, no depth sensor — runs entirely on CPU in any browser 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35424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Output sentence can be spoken aloud as audio with one 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9379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Detects 21 3D hand landmarks via Google MediaPipe → Random Forest classifies the 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5669280" cy="448056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74519"/>
            <a:ext cx="5669280" cy="64008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B7BFF"/>
                </a:solidFill>
                <a:latin typeface="Arial"/>
              </a:rPr>
              <a:t>🎓  Module 2 — The Academy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468880"/>
            <a:ext cx="5303520" cy="127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6032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Gamified ASL curriculum — 5 sequential lessons: Alphabet, Numbers, Greetings, Family,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218688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Each lesson has 3 steps: Learn (Flashcards) → Practice (Live Camera) → Quiz (MCQ)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877056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Earn XP points and daily streaks — just like Duolingo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535424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Practice step uses the SAME real-time AI classifier as the Translator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9379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▸  App tells you whether your sign is correct as you perform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-4572000"/>
            <a:ext cx="9144000" cy="9144000"/>
          </a:xfrm>
          <a:prstGeom prst="ellipse">
            <a:avLst/>
          </a:prstGeom>
          <a:solidFill>
            <a:srgbClr val="9B7B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BFF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A1A2E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End-to-End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7132320" cy="1170432"/>
          </a:xfrm>
          <a:prstGeom prst="rect">
            <a:avLst/>
          </a:prstGeom>
          <a:solidFill>
            <a:srgbClr val="2A2A4A">
              <a:alpha val="72000"/>
            </a:srgbClr>
          </a:solidFill>
          <a:ln w="12700">
            <a:solidFill>
              <a:srgbClr val="8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64008" cy="1170432"/>
          </a:xfrm>
          <a:prstGeom prst="rect">
            <a:avLst/>
          </a:prstGeom>
          <a:solidFill>
            <a:srgbClr val="89C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CFF0"/>
                </a:solidFill>
                <a:latin typeface="Arial"/>
              </a:rPr>
              <a:t>Layer 1 — Browser (Frontend)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Pure HTML5 · Vanilla CSS · Vanilla JS · No framework · MJPEG stream in &lt;img&gt; tag · Polls /status every 100ms for live prediction + sentence updates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70048"/>
            <a:ext cx="7132320" cy="1170432"/>
          </a:xfrm>
          <a:prstGeom prst="rect">
            <a:avLst/>
          </a:prstGeom>
          <a:solidFill>
            <a:srgbClr val="2A2A4A">
              <a:alpha val="72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670048"/>
            <a:ext cx="64008" cy="1170432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7BFF"/>
                </a:solidFill>
                <a:latin typeface="Arial"/>
              </a:rPr>
              <a:t>Layer 2 — Flask Web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81528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Python 3.10 + Flask · Handles routing, auth, sessions · @login_required on all private routes · Serves MJPEG stream at /video_feed via multipart HTTP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68496"/>
            <a:ext cx="7132320" cy="1170432"/>
          </a:xfrm>
          <a:prstGeom prst="rect">
            <a:avLst/>
          </a:prstGeom>
          <a:solidFill>
            <a:srgbClr val="2A2A4A">
              <a:alpha val="72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68496"/>
            <a:ext cx="64008" cy="1170432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41648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54F"/>
                </a:solidFill>
                <a:latin typeface="Arial"/>
              </a:rPr>
              <a:t>Layer 3 — Inference Engine (Background Thread)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79976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threading.Thread runs camera_loop() · OpenCV → MediaPipe → Random Forest · threading.Lock for thread-safe frame buffer · JPEG encoding only when stream_viewers &gt;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66944"/>
            <a:ext cx="7132320" cy="1170432"/>
          </a:xfrm>
          <a:prstGeom prst="rect">
            <a:avLst/>
          </a:prstGeom>
          <a:solidFill>
            <a:srgbClr val="2A2A4A">
              <a:alpha val="72000"/>
            </a:srgbClr>
          </a:solidFill>
          <a:ln w="12700">
            <a:solidFill>
              <a:srgbClr val="59CF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266944"/>
            <a:ext cx="64008" cy="1170432"/>
          </a:xfrm>
          <a:prstGeom prst="rect">
            <a:avLst/>
          </a:prstGeom>
          <a:solidFill>
            <a:srgbClr val="59C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40096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CF90"/>
                </a:solidFill>
                <a:latin typeface="Arial"/>
              </a:rPr>
              <a:t>Layer 4 — SQLite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678424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5 tables: users · otp_codes · user_stats · user_progress · user_achievements · Stores accounts, XP, streaks, lesson progress, OTP tokens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371600"/>
            <a:ext cx="3931920" cy="5212080"/>
          </a:xfrm>
          <a:prstGeom prst="rect">
            <a:avLst/>
          </a:prstGeom>
          <a:solidFill>
            <a:srgbClr val="2A2A4A">
              <a:alpha val="65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7BFF"/>
                </a:solidFill>
                <a:latin typeface="Arial"/>
              </a:rPr>
              <a:t>Data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9202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🌐  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34086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BB"/>
                </a:solidFill>
                <a:latin typeface="Arial"/>
              </a:rPr>
              <a:t>⬇ HTTP / MJPEG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7614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E54F"/>
                </a:solidFill>
                <a:latin typeface="Arial"/>
              </a:rPr>
              <a:t>⚙️  Flask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1821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BB"/>
                </a:solidFill>
                <a:latin typeface="Arial"/>
              </a:rPr>
              <a:t>⬇ spawns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60273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7BFF"/>
                </a:solidFill>
                <a:latin typeface="Arial"/>
              </a:rPr>
              <a:t>📷  Camera Thread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0233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BB"/>
                </a:solidFill>
                <a:latin typeface="Arial"/>
              </a:rPr>
              <a:t>⬇ feeds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44398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FF00"/>
                </a:solidFill>
                <a:latin typeface="Arial"/>
              </a:rPr>
              <a:t>🧠  Random Forest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8646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BB"/>
                </a:solidFill>
                <a:latin typeface="Arial"/>
              </a:rPr>
              <a:t>⬇ results via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2852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9CFF0"/>
                </a:solidFill>
                <a:latin typeface="Arial"/>
              </a:rPr>
              <a:t>📊  /status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7058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BB"/>
                </a:solidFill>
                <a:latin typeface="Arial"/>
              </a:rPr>
              <a:t>⬇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61264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🌐  Browser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2743200"/>
            <a:ext cx="7315200" cy="7315200"/>
          </a:xfrm>
          <a:prstGeom prst="ellipse">
            <a:avLst/>
          </a:prstGeom>
          <a:solidFill>
            <a:srgbClr val="F0E54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9B7B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A1A2E"/>
                </a:solidFill>
                <a:latin typeface="Arial"/>
              </a:rPr>
              <a:t>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From Webcam to Predicted Letter — 8-Step Inference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1216152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8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1216152"/>
          </a:xfrm>
          <a:prstGeom prst="rect">
            <a:avLst/>
          </a:prstGeom>
          <a:solidFill>
            <a:srgbClr val="89C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CFF0"/>
                </a:solidFill>
                <a:latin typeface="Arial"/>
              </a:rPr>
              <a:t>1  Frame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OpenCV reads webcam at 30 FPS · 640×420 px · Horizontally flipped for mirror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15768"/>
            <a:ext cx="5669280" cy="1216152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715768"/>
            <a:ext cx="54864" cy="1216152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797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7BFF"/>
                </a:solidFill>
                <a:latin typeface="Arial"/>
              </a:rPr>
              <a:t>2  Optimised Downsampling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45536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Frame resized to 320×210 px for inference · 2× speed boost · No accuracy loss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59935"/>
            <a:ext cx="5669280" cy="1216152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059935"/>
            <a:ext cx="54864" cy="121615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2394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FF00"/>
                </a:solidFill>
                <a:latin typeface="Arial"/>
              </a:rPr>
              <a:t>3  Frame-Skip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9703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MediaPipe runs every 2nd frame only · Cached skeleton re-drawn to prevent overlay flicker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04104"/>
            <a:ext cx="5669280" cy="1216152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404104"/>
            <a:ext cx="54864" cy="1216152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68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54F"/>
                </a:solidFill>
                <a:latin typeface="Arial"/>
              </a:rPr>
              <a:t>4  3D Landmark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33872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MediaPipe Hands returns 21 keypoints × (x,y,z) → 63-dimensional feature vector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5669280" cy="1216152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F5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54864" cy="1216152"/>
          </a:xfrm>
          <a:prstGeom prst="rect">
            <a:avLst/>
          </a:prstGeom>
          <a:solidFill>
            <a:srgbClr val="F5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435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6D0"/>
                </a:solidFill>
                <a:latin typeface="Arial"/>
              </a:rPr>
              <a:t>5  Min-Max Normalisation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801368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Wrist set as origin (0,0,0) · All coords ÷ max(|coords|) → bounded to [−1, 1]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715768"/>
            <a:ext cx="5669280" cy="1216152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8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2715768"/>
            <a:ext cx="54864" cy="1216152"/>
          </a:xfrm>
          <a:prstGeom prst="rect">
            <a:avLst/>
          </a:prstGeom>
          <a:solidFill>
            <a:srgbClr val="89C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7797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CFF0"/>
                </a:solidFill>
                <a:latin typeface="Arial"/>
              </a:rPr>
              <a:t>6  Random Forest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145536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63-float vector fed into 100-tree RF model · Predicts ASL letter in &lt;1 ms on CPU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059935"/>
            <a:ext cx="5669280" cy="1216152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059935"/>
            <a:ext cx="54864" cy="1216152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2394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7BFF"/>
                </a:solidFill>
                <a:latin typeface="Arial"/>
              </a:rPr>
              <a:t>7  Temporal Smoothing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489703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Rolling deque of 12 predictions · Most common label selected → eliminates flicker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404104"/>
            <a:ext cx="5669280" cy="1216152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59CF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5404104"/>
            <a:ext cx="54864" cy="1216152"/>
          </a:xfrm>
          <a:prstGeom prst="rect">
            <a:avLst/>
          </a:prstGeom>
          <a:solidFill>
            <a:srgbClr val="59C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468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CF90"/>
                </a:solidFill>
                <a:latin typeface="Arial"/>
              </a:rPr>
              <a:t>8  2-Second Hold &amp;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833872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Letter added to sentence only after 2.0s stable hold + 0.4s noise floor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457200"/>
            <a:ext cx="8229600" cy="8229600"/>
          </a:xfrm>
          <a:prstGeom prst="ellipse">
            <a:avLst/>
          </a:prstGeom>
          <a:solidFill>
            <a:srgbClr val="BFFF00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9B7B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A1A2E"/>
                </a:solidFill>
                <a:latin typeface="Arial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Our Research Paper — Evaluating 3 Spatial Normalisation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11430000" cy="749808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64008" cy="749808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62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Research Question: When a hand is close to the camera its coordinate values are 10× larger than the same gesture from further away. Without normalisation, a classifier learns DISTANCE not GESTURE SHAPE. Which mathematical strategy best solves this?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12848"/>
            <a:ext cx="3749039" cy="4224528"/>
          </a:xfrm>
          <a:prstGeom prst="rect">
            <a:avLst/>
          </a:prstGeom>
          <a:solidFill>
            <a:srgbClr val="2A2A4A">
              <a:alpha val="68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212848"/>
            <a:ext cx="3749039" cy="54864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304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Strategy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304288"/>
            <a:ext cx="1097280" cy="292608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3042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Arial"/>
              </a:rPr>
              <a:t>Strategy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670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54F"/>
                </a:solidFill>
                <a:latin typeface="Arial"/>
              </a:rPr>
              <a:t>Min-Max Bounding Box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3090672"/>
            <a:ext cx="3383280" cy="12700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163824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Wrist joint → origin (0,0,0)
All coords ÷ max(|all coords|)
Bounds geometry to [−1, 1] cube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3474720" cy="804672"/>
          </a:xfrm>
          <a:prstGeom prst="rect">
            <a:avLst/>
          </a:prstGeom>
          <a:solidFill>
            <a:srgbClr val="2A2A4A">
              <a:alpha val="55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451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E54F"/>
                </a:solidFill>
                <a:latin typeface="Arial"/>
              </a:rPr>
              <a:t>⚠ Vulnerable when one finger is fully
extended — distorts the rest of the hand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212848"/>
            <a:ext cx="3749039" cy="4224528"/>
          </a:xfrm>
          <a:prstGeom prst="rect">
            <a:avLst/>
          </a:prstGeom>
          <a:solidFill>
            <a:srgbClr val="2A2A4A">
              <a:alpha val="68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2212848"/>
            <a:ext cx="3749039" cy="54864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2304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Strategy 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7992" y="2304288"/>
            <a:ext cx="1097280" cy="292608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23042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Arial"/>
              </a:rPr>
              <a:t>Strategy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2670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7BFF"/>
                </a:solidFill>
                <a:latin typeface="Arial"/>
              </a:rPr>
              <a:t>Z-Score / Center of Mass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7992" y="3090672"/>
            <a:ext cx="3383280" cy="127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3163824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Mean of all 21 keypoints → origin
Coords ÷ standard deviation of set
Hand centred on its own centre of mass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4572000"/>
            <a:ext cx="3474720" cy="804672"/>
          </a:xfrm>
          <a:prstGeom prst="rect">
            <a:avLst/>
          </a:prstGeom>
          <a:solidFill>
            <a:srgbClr val="2A2A4A">
              <a:alpha val="55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6451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B7BFF"/>
                </a:solidFill>
                <a:latin typeface="Arial"/>
              </a:rPr>
              <a:t>✓ Robust — not biased by any single
extreme keypoint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2212848"/>
            <a:ext cx="3749039" cy="4224528"/>
          </a:xfrm>
          <a:prstGeom prst="rect">
            <a:avLst/>
          </a:prstGeom>
          <a:solidFill>
            <a:srgbClr val="2A2A4A">
              <a:alpha val="68000"/>
            </a:srgbClr>
          </a:solidFill>
          <a:ln w="1270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9" y="2212848"/>
            <a:ext cx="3749039" cy="54864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1" y="2304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Strategy 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9911" y="2304288"/>
            <a:ext cx="1097280" cy="292608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9911" y="23042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Arial"/>
              </a:rPr>
              <a:t>Strategy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1" y="2670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FF00"/>
                </a:solidFill>
                <a:latin typeface="Arial"/>
              </a:rPr>
              <a:t>Anatomical Distance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9911" y="3090672"/>
            <a:ext cx="3383280" cy="1270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9911" y="3163824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5FF"/>
                </a:solidFill>
                <a:latin typeface="Arial"/>
              </a:rPr>
              <a:t>Wrist → origin (0,0,0)
Coords ÷ Euclidean distance between
Wrist (L0) and Middle MCP (L9)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79" y="4572000"/>
            <a:ext cx="3474720" cy="804672"/>
          </a:xfrm>
          <a:prstGeom prst="rect">
            <a:avLst/>
          </a:prstGeom>
          <a:solidFill>
            <a:srgbClr val="2A2A4A">
              <a:alpha val="55000"/>
            </a:srgbClr>
          </a:solidFill>
          <a:ln w="1270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19" y="46451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FF00"/>
                </a:solidFill>
                <a:latin typeface="Arial"/>
              </a:rPr>
              <a:t>✓ Biologically grounded · Invariant to
hand size differences between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BB"/>
                </a:solidFill>
                <a:latin typeface="Arial"/>
              </a:rPr>
              <a:t>Dataset: 10,800 ASL samples  ·  Model: Random Forest (100 estimators, random_state=42)  ·  Split: 80/20  ·  Metrics: Accuracy · Precision · Recall · F1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F0E54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6400800" cy="6400800"/>
          </a:xfrm>
          <a:prstGeom prst="ellipse">
            <a:avLst/>
          </a:prstGeom>
          <a:solidFill>
            <a:srgbClr val="59CF9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59C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A1A2E"/>
                </a:solidFill>
                <a:latin typeface="Arial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99.86% Accuracy — Across All Three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3840480" cy="146304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0E54F"/>
                </a:solidFill>
                <a:latin typeface="Arial"/>
              </a:rPr>
              <a:t>99.86%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BB"/>
                </a:solidFill>
                <a:latin typeface="Arial"/>
              </a:rPr>
              <a:t>Sign Classification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98448"/>
            <a:ext cx="3840480" cy="146304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9B7BFF"/>
                </a:solidFill>
                <a:latin typeface="Arial"/>
              </a:rPr>
              <a:t>10,800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BB"/>
                </a:solidFill>
                <a:latin typeface="Arial"/>
              </a:rPr>
              <a:t>ASL Gesture Samples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298448"/>
            <a:ext cx="3383280" cy="146304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37160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BFFF00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BB"/>
                </a:solidFill>
                <a:latin typeface="Arial"/>
              </a:rPr>
              <a:t>Strategies Compared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07792"/>
            <a:ext cx="11430000" cy="1783080"/>
          </a:xfrm>
          <a:prstGeom prst="rect">
            <a:avLst/>
          </a:prstGeom>
          <a:solidFill>
            <a:srgbClr val="2A2A4A">
              <a:alpha val="68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07792"/>
            <a:ext cx="11430000" cy="41148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Arial"/>
              </a:rPr>
              <a:t>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Arial"/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Arial"/>
              </a:rPr>
              <a:t>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Arial"/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Arial"/>
              </a:rP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337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54F"/>
                </a:solidFill>
                <a:latin typeface="Arial"/>
              </a:rPr>
              <a:t>A — Min-Max (Baseline)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337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99.86%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337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0.9986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337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0.9986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337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0.9986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764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CFF0"/>
                </a:solidFill>
                <a:latin typeface="Arial"/>
              </a:rPr>
              <a:t>B — Z-Score (Center of Mass)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7764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99.86%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7764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0.9986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7764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0.9986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7764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0.9986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215383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FF00"/>
                </a:solidFill>
                <a:latin typeface="Arial"/>
              </a:rPr>
              <a:t>C — Anatomical Distance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215383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99.86%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215383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0.9986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215383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0.9986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215383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0.9986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28032"/>
            <a:ext cx="5486400" cy="1737360"/>
          </a:xfrm>
          <a:prstGeom prst="rect">
            <a:avLst/>
          </a:prstGeom>
          <a:solidFill>
            <a:srgbClr val="2A2A4A">
              <a:alpha val="68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828032"/>
            <a:ext cx="64008" cy="1737360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54F"/>
                </a:solidFill>
                <a:latin typeface="Arial"/>
              </a:rPr>
              <a:t>Finding 1 — Why Parity Exists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285232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Random Forest partitions feature space with decision boundaries. All 3 strategies produce linearly scaled versions of the same coordinates — the RF adjusts its split thresholds automatically. For static, well-separated gesture classes, the scaling factor is irrelevant.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828032"/>
            <a:ext cx="5669280" cy="1737360"/>
          </a:xfrm>
          <a:prstGeom prst="rect">
            <a:avLst/>
          </a:prstGeom>
          <a:solidFill>
            <a:srgbClr val="2A2A4A">
              <a:alpha val="68000"/>
            </a:srgbClr>
          </a:solidFill>
          <a:ln w="12700">
            <a:solidFill>
              <a:srgbClr val="F5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828032"/>
            <a:ext cx="64008" cy="1737360"/>
          </a:xfrm>
          <a:prstGeom prst="rect">
            <a:avLst/>
          </a:prstGeom>
          <a:solidFill>
            <a:srgbClr val="F5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4892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6D0"/>
                </a:solidFill>
                <a:latin typeface="Arial"/>
              </a:rPr>
              <a:t>Finding 2 — Why Choice Still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285232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In continuous/dynamic signing, Min-Max is the weakest: one extended finger dominates the bounding box, distorting the rest of the hand. Z-Score and Anatomical strategies are more stable under rapid movement and varying hand sizes — recommended for future sentence-level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F0E54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6400800" cy="6400800"/>
          </a:xfrm>
          <a:prstGeom prst="ellipse">
            <a:avLst/>
          </a:prstGeom>
          <a:solidFill>
            <a:srgbClr val="9B7B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A1A2E"/>
                </a:solidFill>
                <a:latin typeface="Arial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Inside the Platform — Translator &amp; Academy Deep Dive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577840" cy="525780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577840" cy="54864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E54F"/>
                </a:solidFill>
                <a:latin typeface="Arial"/>
              </a:rPr>
              <a:t>🤖  The Translator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65376"/>
            <a:ext cx="5212080" cy="12700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E54F"/>
                </a:solidFill>
                <a:latin typeface="Arial"/>
              </a:rPr>
              <a:t>What the user sees: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▸  Live webcam feed with MediaPipe skeleton overlay (21 joint connections drawn)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2491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▸  Large current-prediction label — most stable letter in last 12 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181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▸  Hold-progress bar filling over 2 seconds — completion commits the letter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1129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▸  Growing sentence output below the 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044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▸  3 action buttons: Speak (TTS) · Delete (last char) · Clear (reset)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E54F"/>
                </a:solidFill>
                <a:latin typeface="Arial"/>
              </a:rPr>
              <a:t>What happens in the backend: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9087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▸  POST /action/start → Flask spawns background camera thread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8406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▸  /video_feed → Flask sends continuous MJPEG multipart HTTP 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7725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▸  GET /status polled every 100ms → { prediction, sentence, fps, hold_progress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70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5FF"/>
                </a:solidFill>
                <a:latin typeface="Arial"/>
              </a:rPr>
              <a:t>▸  JPEG encoding only when stream_viewers &gt; 0 → CPU idle when no one watching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25880"/>
            <a:ext cx="5577840" cy="525780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25880"/>
            <a:ext cx="5577840" cy="54864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B7BFF"/>
                </a:solidFill>
                <a:latin typeface="Arial"/>
              </a:rPr>
              <a:t>🎓  The Academy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865376"/>
            <a:ext cx="5212080" cy="127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385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7BFF"/>
                </a:solidFill>
                <a:latin typeface="Arial"/>
              </a:rPr>
              <a:t>5 Lessons (Sequentially Unlocked):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322576"/>
            <a:ext cx="1024128" cy="256032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322576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Arial"/>
              </a:rPr>
              <a:t>1. Alphabet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0648" y="2322576"/>
            <a:ext cx="1024128" cy="256032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8" y="2322576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Arial"/>
              </a:rPr>
              <a:t>2. Numbers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0496" y="2322576"/>
            <a:ext cx="1024128" cy="256032"/>
          </a:xfrm>
          <a:prstGeom prst="rect">
            <a:avLst/>
          </a:prstGeom>
          <a:solidFill>
            <a:srgbClr val="89C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0496" y="2322576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Arial"/>
              </a:rPr>
              <a:t>3. Greetings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10344" y="2322576"/>
            <a:ext cx="1024128" cy="256032"/>
          </a:xfrm>
          <a:prstGeom prst="rect">
            <a:avLst/>
          </a:prstGeom>
          <a:solidFill>
            <a:srgbClr val="F5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0344" y="2322576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Arial"/>
              </a:rPr>
              <a:t>4. Family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80192" y="2322576"/>
            <a:ext cx="1024128" cy="256032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80192" y="2322576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Arial"/>
              </a:rPr>
              <a:t>5. Questions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697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7BFF"/>
                </a:solidFill>
                <a:latin typeface="Arial"/>
              </a:rPr>
              <a:t>3-Step Learning Flow per Lesson: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090672"/>
            <a:ext cx="5440680" cy="896112"/>
          </a:xfrm>
          <a:prstGeom prst="rect">
            <a:avLst/>
          </a:prstGeom>
          <a:solidFill>
            <a:srgbClr val="2A2A4A">
              <a:alpha val="60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1363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E54F"/>
                </a:solidFill>
                <a:latin typeface="Arial"/>
              </a:rPr>
              <a:t>📚  Step 1 — Learn (Animated Flashcard Carousel)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47472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Sign reference photo + large label + written description of how to form the handshape. Smooth slide animations. User navigates at own pace.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050792"/>
            <a:ext cx="5440680" cy="896112"/>
          </a:xfrm>
          <a:prstGeom prst="rect">
            <a:avLst/>
          </a:prstGeom>
          <a:solidFill>
            <a:srgbClr val="2A2A4A">
              <a:alpha val="60000"/>
            </a:srgbClr>
          </a:solidFill>
          <a:ln w="1270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096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FFF00"/>
                </a:solidFill>
                <a:latin typeface="Arial"/>
              </a:rPr>
              <a:t>🤖  Step 2 — Practice (Live Camera + AI Feedback)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43484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Same Lumina classifier activates. User sees target letter. Hold-bar fills as classifier detects. Green = correct · Red = incorrect. Real active recall.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5010912"/>
            <a:ext cx="5440680" cy="896112"/>
          </a:xfrm>
          <a:prstGeom prst="rect">
            <a:avLst/>
          </a:prstGeom>
          <a:solidFill>
            <a:srgbClr val="2A2A4A">
              <a:alpha val="60000"/>
            </a:srgbClr>
          </a:solidFill>
          <a:ln w="12700">
            <a:solidFill>
              <a:srgbClr val="8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50566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9CFF0"/>
                </a:solidFill>
                <a:latin typeface="Arial"/>
              </a:rPr>
              <a:t>✅  Step 3 — Quiz (Multiple Choice)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3949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Sign image shown with 4 answer choices. Correct = green instant. Wrong = red. Must pass quiz to unlock next lesson.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3200400"/>
            <a:ext cx="7315200" cy="7315200"/>
          </a:xfrm>
          <a:prstGeom prst="ellipse">
            <a:avLst/>
          </a:prstGeom>
          <a:solidFill>
            <a:srgbClr val="89CFF0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F5C6D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89C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A1A2E"/>
                </a:solidFill>
                <a:latin typeface="Arial"/>
              </a:rPr>
              <a:t>TECH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Authentication, Gamification &amp; The Full 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94960" cy="525780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F5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94960" cy="54864"/>
          </a:xfrm>
          <a:prstGeom prst="rect">
            <a:avLst/>
          </a:prstGeom>
          <a:solidFill>
            <a:srgbClr val="F5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6D0"/>
                </a:solidFill>
                <a:latin typeface="Arial"/>
              </a:rPr>
              <a:t>🔒  Authentication &amp;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5FF"/>
                </a:solidFill>
                <a:latin typeface="Arial"/>
              </a:rPr>
              <a:t>1. User fills username, email and password on /signup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5FF"/>
                </a:solidFill>
                <a:latin typeface="Arial"/>
              </a:rPr>
              <a:t>2. All inputs validated server-side (length, format, uniqueness)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5FF"/>
                </a:solidFill>
                <a:latin typeface="Arial"/>
              </a:rPr>
              <a:t>3. Password hashed with Werkzeug (PBKDF2/bcrypt) — plaintext NEVER stored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5FF"/>
                </a:solidFill>
                <a:latin typeface="Arial"/>
              </a:rPr>
              <a:t>4. 6-digit OTP auto-generated and emailed via Gmail SMTP (smtplib)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5FF"/>
                </a:solidFill>
                <a:latin typeface="Arial"/>
              </a:rPr>
              <a:t>5. OTP stored in DB with a 10-minute expiry timestamp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5FF"/>
                </a:solidFill>
                <a:latin typeface="Arial"/>
              </a:rPr>
              <a:t>6. User enters OTP on /verify-otp · Server validates code AND expiry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177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5FF"/>
                </a:solidFill>
                <a:latin typeface="Arial"/>
              </a:rPr>
              <a:t>7. On success: is_verified = 1 written · User logged in via Flask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5FF"/>
                </a:solidFill>
                <a:latin typeface="Arial"/>
              </a:rPr>
              <a:t>8. ALL private routes protected by @login_required decorator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5FF"/>
                </a:solidFill>
                <a:latin typeface="Arial"/>
              </a:rPr>
              <a:t>   Unauthenticated → redirect to /login (pages) or 401 JSON (APIs)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325880"/>
            <a:ext cx="3063240" cy="525780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325880"/>
            <a:ext cx="3063240" cy="54864"/>
          </a:xfrm>
          <a:prstGeom prst="rect">
            <a:avLst/>
          </a:prstGeom>
          <a:solidFill>
            <a:srgbClr val="F0E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54F"/>
                </a:solidFill>
                <a:latin typeface="Arial"/>
              </a:rPr>
              <a:t>🏆  Gamification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87451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54F"/>
                </a:solidFill>
                <a:latin typeface="Arial"/>
              </a:rPr>
              <a:t>XP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76271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Awarded on each completed step via POST /api/gamification/update_progress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807207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6D0"/>
                </a:solidFill>
                <a:latin typeface="Arial"/>
              </a:rPr>
              <a:t>Daily Streak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10895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Server checks last_active_date. Consecutive days → streak+1. Gap → reset to 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739895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7BFF"/>
                </a:solidFill>
                <a:latin typeface="Arial"/>
              </a:rPr>
              <a:t>Progress Bars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04164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Per lesson: (completed steps ÷ 3) × 100% displayed as fill 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672583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FF00"/>
                </a:solidFill>
                <a:latin typeface="Arial"/>
              </a:rPr>
              <a:t>Sequential Unlock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974335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Lesson N+1 unlocks only when Quiz (step 2) of Lesson N is marked complete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605271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CFF0"/>
                </a:solidFill>
                <a:latin typeface="Arial"/>
              </a:rPr>
              <a:t>Celebration Modal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907023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Full-screen animated modal on completion showing XP earned + streak count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1325880"/>
            <a:ext cx="2606040" cy="5257800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1325880"/>
            <a:ext cx="2606040" cy="54864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14173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FF00"/>
                </a:solidFill>
                <a:latin typeface="Arial"/>
              </a:rPr>
              <a:t>⚙️  Stack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187451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189280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E54F"/>
                </a:solidFill>
                <a:latin typeface="Arial"/>
              </a:rPr>
              <a:t>Python 3.10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19455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221284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9CFF0"/>
                </a:solidFill>
                <a:latin typeface="Arial"/>
              </a:rPr>
              <a:t>Flask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251459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253288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6D0"/>
                </a:solidFill>
                <a:latin typeface="Arial"/>
              </a:rPr>
              <a:t>OpenCV (cv2)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18320" y="283463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285292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7BFF"/>
                </a:solidFill>
                <a:latin typeface="Arial"/>
              </a:rPr>
              <a:t>MediaPipe Hands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315467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64040" y="317296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FF00"/>
                </a:solidFill>
                <a:latin typeface="Arial"/>
              </a:rPr>
              <a:t>Random Forest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347471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4040" y="349300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E54F"/>
                </a:solidFill>
                <a:latin typeface="Arial"/>
              </a:rPr>
              <a:t>scikit-learn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379475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64040" y="381304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9CFF0"/>
                </a:solidFill>
                <a:latin typeface="Arial"/>
              </a:rPr>
              <a:t>SQLite 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411479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64040" y="413308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6D0"/>
                </a:solidFill>
                <a:latin typeface="Arial"/>
              </a:rPr>
              <a:t>Werkzeug Security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18320" y="443483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64040" y="445312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7BFF"/>
                </a:solidFill>
                <a:latin typeface="Arial"/>
              </a:rPr>
              <a:t>smtplib SMTP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18320" y="475487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64040" y="477316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FF00"/>
                </a:solidFill>
                <a:latin typeface="Arial"/>
              </a:rPr>
              <a:t>Gunicorn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507491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64040" y="509320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E54F"/>
                </a:solidFill>
                <a:latin typeface="Arial"/>
              </a:rPr>
              <a:t>HTML5 / CSS /JS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18320" y="539495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64040" y="541324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9CFF0"/>
                </a:solidFill>
                <a:latin typeface="Arial"/>
              </a:rPr>
              <a:t>Google Fonts Inter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0" y="571499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64040" y="573328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6D0"/>
                </a:solidFill>
                <a:latin typeface="Arial"/>
              </a:rPr>
              <a:t>MJPEG Stream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6035039"/>
            <a:ext cx="2240280" cy="25603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64040" y="6053327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7BFF"/>
                </a:solidFill>
                <a:latin typeface="Arial"/>
              </a:rPr>
              <a:t>Heroku / Render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200400" y="-3200400"/>
            <a:ext cx="7315200" cy="7315200"/>
          </a:xfrm>
          <a:prstGeom prst="ellipse">
            <a:avLst/>
          </a:prstGeom>
          <a:solidFill>
            <a:srgbClr val="9B7BF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200400"/>
            <a:ext cx="6400800" cy="6400800"/>
          </a:xfrm>
          <a:prstGeom prst="ellipse">
            <a:avLst/>
          </a:prstGeom>
          <a:solidFill>
            <a:srgbClr val="F0E54F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2286000"/>
            <a:ext cx="5486400" cy="5486400"/>
          </a:xfrm>
          <a:prstGeom prst="ellipse">
            <a:avLst/>
          </a:prstGeom>
          <a:solidFill>
            <a:srgbClr val="BFFF00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A1A2E"/>
                </a:solidFill>
                <a:latin typeface="Arial"/>
              </a:rPr>
              <a:t>BUSINESS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Market Opportunity, Business Models &amp; Future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3749039" cy="1024128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54F"/>
                </a:solidFill>
                <a:latin typeface="Arial"/>
              </a:rPr>
              <a:t>$21.2B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B"/>
                </a:solidFill>
                <a:latin typeface="Arial"/>
              </a:rPr>
              <a:t>Language Learning Market (2023)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98448"/>
            <a:ext cx="3749039" cy="1024128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533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9B7BFF"/>
                </a:solidFill>
                <a:latin typeface="Arial"/>
              </a:rPr>
              <a:t>$26B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019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B"/>
                </a:solidFill>
                <a:latin typeface="Arial"/>
              </a:rPr>
              <a:t>Accessibility Technology 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298448"/>
            <a:ext cx="3749039" cy="1024128"/>
          </a:xfrm>
          <a:prstGeom prst="rect">
            <a:avLst/>
          </a:prstGeom>
          <a:solidFill>
            <a:srgbClr val="2A2A4A">
              <a:alpha val="70000"/>
            </a:srgbClr>
          </a:solidFill>
          <a:ln w="1270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3533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FFF00"/>
                </a:solidFill>
                <a:latin typeface="Arial"/>
              </a:rPr>
              <a:t>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9019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B"/>
                </a:solidFill>
                <a:latin typeface="Arial"/>
              </a:rPr>
              <a:t>Market CAGR — Growing Rapidly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23160"/>
            <a:ext cx="5394960" cy="2331720"/>
          </a:xfrm>
          <a:prstGeom prst="rect">
            <a:avLst/>
          </a:prstGeom>
          <a:solidFill>
            <a:srgbClr val="2A2A4A">
              <a:alpha val="68000"/>
            </a:srgbClr>
          </a:solidFill>
          <a:ln w="12700">
            <a:solidFill>
              <a:srgbClr val="F5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871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6D0"/>
                </a:solidFill>
                <a:latin typeface="Arial"/>
              </a:rPr>
              <a:t>Competitive Landscape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80360"/>
            <a:ext cx="5394960" cy="274320"/>
          </a:xfrm>
          <a:prstGeom prst="rect">
            <a:avLst/>
          </a:prstGeom>
          <a:solidFill>
            <a:srgbClr val="F5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Offers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5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Missing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18211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5FF"/>
                </a:solidFill>
                <a:latin typeface="Arial"/>
              </a:rPr>
              <a:t>Duolingo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318211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5FF"/>
                </a:solidFill>
                <a:latin typeface="Arial"/>
              </a:rPr>
              <a:t>Gamified language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14215" y="318211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5FF"/>
                </a:solidFill>
                <a:latin typeface="Arial"/>
              </a:rPr>
              <a:t>No sign language at 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4787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5FF"/>
                </a:solidFill>
                <a:latin typeface="Arial"/>
              </a:rPr>
              <a:t>Signing Savvy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354787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5FF"/>
                </a:solidFill>
                <a:latin typeface="Arial"/>
              </a:rPr>
              <a:t>ASL video dictionary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5" y="354787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5FF"/>
                </a:solidFill>
                <a:latin typeface="Arial"/>
              </a:rPr>
              <a:t>No AI, no curriculum, no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91363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5FF"/>
                </a:solidFill>
                <a:latin typeface="Arial"/>
              </a:rPr>
              <a:t>ASLdeafined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58568" y="391363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5FF"/>
                </a:solidFill>
                <a:latin typeface="Arial"/>
              </a:rPr>
              <a:t>Structured video ASL lessons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4215" y="391363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5FF"/>
                </a:solidFill>
                <a:latin typeface="Arial"/>
              </a:rPr>
              <a:t>Expensive, no real-time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793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E54F"/>
                </a:solidFill>
                <a:latin typeface="Arial"/>
              </a:rPr>
              <a:t>LUMINA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8568" y="42793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E54F"/>
                </a:solidFill>
                <a:latin typeface="Arial"/>
              </a:rPr>
              <a:t>AI + curriculum + free + browser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14215" y="42793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E54F"/>
                </a:solidFill>
                <a:latin typeface="Arial"/>
              </a:rPr>
              <a:t>— Best in class 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2423160"/>
            <a:ext cx="5852160" cy="2331720"/>
          </a:xfrm>
          <a:prstGeom prst="rect">
            <a:avLst/>
          </a:prstGeom>
          <a:solidFill>
            <a:srgbClr val="2A2A4A">
              <a:alpha val="68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2487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54F"/>
                </a:solidFill>
                <a:latin typeface="Arial"/>
              </a:rPr>
              <a:t>Business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2880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54F"/>
                </a:solidFill>
                <a:latin typeface="Arial"/>
              </a:rPr>
              <a:t>Freemium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Free first 2 lessons · Premium unlocks advanced vocab + sentence translation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447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54F"/>
                </a:solidFill>
                <a:latin typeface="Arial"/>
              </a:rPr>
              <a:t>B2B Licensing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721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K-12 schools · Hospitals · Corporate DEI programs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0142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54F"/>
                </a:solidFill>
                <a:latin typeface="Arial"/>
              </a:rPr>
              <a:t>API Product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2885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Pay-per-call ASL sign classification API for third-party accessibility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5811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54F"/>
                </a:solidFill>
                <a:latin typeface="Arial"/>
              </a:rPr>
              <a:t>Research License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8554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5FF"/>
                </a:solidFill>
                <a:latin typeface="Arial"/>
              </a:rPr>
              <a:t>Publishable normalisation study — standalone academic &amp; commercial value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864608"/>
            <a:ext cx="11430000" cy="1719072"/>
          </a:xfrm>
          <a:prstGeom prst="rect">
            <a:avLst/>
          </a:prstGeom>
          <a:solidFill>
            <a:srgbClr val="2A2A4A">
              <a:alpha val="65000"/>
            </a:srgbClr>
          </a:solidFill>
          <a:ln w="12700">
            <a:solidFill>
              <a:srgbClr val="9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9286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7BFF"/>
                </a:solidFill>
                <a:latin typeface="Arial"/>
              </a:rPr>
              <a:t>Future Roadmap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321808"/>
            <a:ext cx="2176272" cy="1115568"/>
          </a:xfrm>
          <a:prstGeom prst="rect">
            <a:avLst/>
          </a:prstGeom>
          <a:solidFill>
            <a:srgbClr val="2A2A4A">
              <a:alpha val="55000"/>
            </a:srgbClr>
          </a:solidFill>
          <a:ln w="12700">
            <a:solidFill>
              <a:srgbClr val="59CF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385816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9CF90"/>
                </a:solidFill>
                <a:latin typeface="Arial"/>
              </a:rPr>
              <a:t>Phase 1 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705856"/>
            <a:ext cx="1993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5FF"/>
                </a:solidFill>
                <a:latin typeface="Arial"/>
              </a:rPr>
              <a:t>Static Alphabet + Numbers · Academy · Deployment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07208" y="5321808"/>
            <a:ext cx="2176272" cy="1115568"/>
          </a:xfrm>
          <a:prstGeom prst="rect">
            <a:avLst/>
          </a:prstGeom>
          <a:solidFill>
            <a:srgbClr val="2A2A4A">
              <a:alpha val="55000"/>
            </a:srgbClr>
          </a:solidFill>
          <a:ln w="12700">
            <a:solidFill>
              <a:srgbClr val="8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98648" y="5385816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9CFF0"/>
                </a:solidFill>
                <a:latin typeface="Arial"/>
              </a:rPr>
              <a:t>Phase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98648" y="5705856"/>
            <a:ext cx="1993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5FF"/>
                </a:solidFill>
                <a:latin typeface="Arial"/>
              </a:rPr>
              <a:t>Full vocabulary (500+ signs) · Two-handed gestures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5321808"/>
            <a:ext cx="2176272" cy="1115568"/>
          </a:xfrm>
          <a:prstGeom prst="rect">
            <a:avLst/>
          </a:prstGeom>
          <a:solidFill>
            <a:srgbClr val="2A2A4A">
              <a:alpha val="55000"/>
            </a:srgbClr>
          </a:solidFill>
          <a:ln w="12700">
            <a:solidFill>
              <a:srgbClr val="B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02936" y="5385816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FF00"/>
                </a:solidFill>
                <a:latin typeface="Arial"/>
              </a:rPr>
              <a:t>Phase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02936" y="5705856"/>
            <a:ext cx="1993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5FF"/>
                </a:solidFill>
                <a:latin typeface="Arial"/>
              </a:rPr>
              <a:t>Sentence-level parsing · LSTM / ST-GCN models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15784" y="5321808"/>
            <a:ext cx="2176272" cy="1115568"/>
          </a:xfrm>
          <a:prstGeom prst="rect">
            <a:avLst/>
          </a:prstGeom>
          <a:solidFill>
            <a:srgbClr val="2A2A4A">
              <a:alpha val="55000"/>
            </a:srgbClr>
          </a:solidFill>
          <a:ln w="12700">
            <a:solidFill>
              <a:srgbClr val="F0E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07224" y="5385816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E54F"/>
                </a:solidFill>
                <a:latin typeface="Arial"/>
              </a:rPr>
              <a:t>Phase 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07224" y="5705856"/>
            <a:ext cx="1993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5FF"/>
                </a:solidFill>
                <a:latin typeface="Arial"/>
              </a:rPr>
              <a:t>ASL↔Speech audio · Reverse avatar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20072" y="5321808"/>
            <a:ext cx="2176272" cy="1115568"/>
          </a:xfrm>
          <a:prstGeom prst="rect">
            <a:avLst/>
          </a:prstGeom>
          <a:solidFill>
            <a:srgbClr val="2A2A4A">
              <a:alpha val="55000"/>
            </a:srgbClr>
          </a:solidFill>
          <a:ln w="12700">
            <a:solidFill>
              <a:srgbClr val="F5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11512" y="5385816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6D0"/>
                </a:solidFill>
                <a:latin typeface="Arial"/>
              </a:rPr>
              <a:t>Phase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11512" y="5705856"/>
            <a:ext cx="1993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5FF"/>
                </a:solidFill>
                <a:latin typeface="Arial"/>
              </a:rPr>
              <a:t>BSL · ISL · Auslan · Community datasets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5105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0E54F"/>
                </a:solidFill>
                <a:latin typeface="Arial"/>
              </a:rPr>
              <a:t>"99.86% accuracy. A standard webcam. No special hardware.
Lumina proves accessible AI for the Deaf community is not a future ambition — it's here."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